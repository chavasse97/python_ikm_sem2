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3"/>
    <p:sldId id="257" r:id="rId4"/>
    <p:sldId id="258" r:id="rId5"/>
    <p:sldId id="259" r:id="rId6"/>
    <p:sldId id="270" r:id="rId7"/>
    <p:sldId id="260" r:id="rId8"/>
    <p:sldId id="261" r:id="rId9"/>
    <p:sldId id="269" r:id="rId10"/>
    <p:sldId id="264" r:id="rId11"/>
    <p:sldId id="265" r:id="rId12"/>
    <p:sldId id="271" r:id="rId13"/>
    <p:sldId id="267" r:id="rId14"/>
    <p:sldId id="268" r:id="rId15"/>
    <p:sldId id="262" r:id="rId16"/>
    <p:sldId id="272" r:id="rId17"/>
    <p:sldId id="263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2539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ru-RU" altLang="en-US" b="1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Итоговое контрольное мероприятие</a:t>
            </a:r>
            <a:endParaRPr lang="ru-RU" altLang="en-US" b="1">
              <a:solidFill>
                <a:schemeClr val="bg1"/>
              </a:solidFill>
              <a:latin typeface="PermianSlabSerifTypeface" panose="02000000000000000000" charset="0"/>
              <a:cs typeface="PermianSlabSerifTypeface" panose="02000000000000000000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394200"/>
            <a:ext cx="9144000" cy="1676400"/>
          </a:xfrm>
        </p:spPr>
        <p:txBody>
          <a:bodyPr/>
          <a:p>
            <a:r>
              <a:rPr lang="ru-RU" altLang="en-US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Презентация по задачам №15, №19</a:t>
            </a:r>
            <a:endParaRPr lang="ru-RU" altLang="en-US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  <a:p>
            <a:r>
              <a:rPr lang="ru-RU" altLang="en-US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Подготовил: Рогозин Е.А.</a:t>
            </a:r>
            <a:endParaRPr lang="ru-RU" altLang="en-US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  <a:p>
            <a:r>
              <a:rPr lang="ru-RU" altLang="en-US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ИТ-8-2025</a:t>
            </a:r>
            <a:endParaRPr lang="ru-RU" altLang="en-US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Постановка задачи</a:t>
            </a:r>
            <a:endParaRPr lang="ru-RU" altLang="en-US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Задача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15</a:t>
            </a:r>
            <a:endParaRPr lang="en-US" altLang="ru-RU">
              <a:solidFill>
                <a:schemeClr val="bg1"/>
              </a:solidFill>
              <a:latin typeface="PermianSansTypeface" panose="02000000000000000000" charset="0"/>
              <a:cs typeface="PermianSansTypeface" panose="02000000000000000000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Используя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структуру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стека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подсчитать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значение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арифметического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выражения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,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записанного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в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обратной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польской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записи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(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постфиксной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записи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)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при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условии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,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что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используются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знаки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операций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+, –, *, /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операнды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являются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вещественными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положительными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числами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.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Во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вводимой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пользователем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строке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числа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знаки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операций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разделяются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одним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пробелом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. </a:t>
            </a:r>
            <a:endParaRPr lang="en-US" altLang="ru-RU">
              <a:solidFill>
                <a:schemeClr val="bg1"/>
              </a:solidFill>
              <a:latin typeface="PermianSansTypeface" panose="02000000000000000000" charset="0"/>
              <a:cs typeface="PermianSansTypeface" panose="02000000000000000000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Замечание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: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Постфиксной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формой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записи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выражения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a b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называется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запись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,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в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которой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знак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операции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размещен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за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операндами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a b .</a:t>
            </a:r>
            <a:endParaRPr lang="en-US" altLang="ru-RU">
              <a:solidFill>
                <a:schemeClr val="bg1"/>
              </a:solidFill>
              <a:latin typeface="PermianSansTypeface" panose="02000000000000000000" charset="0"/>
              <a:cs typeface="PermianSansTypeface" panose="0200000000000000000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Алгоритм решения задачи</a:t>
            </a:r>
            <a:endParaRPr lang="ru-RU" altLang="en-US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Реализована структура стек (</a:t>
            </a:r>
            <a:r>
              <a:rPr lang="en-US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LIFO)</a:t>
            </a:r>
            <a:endParaRPr lang="en-US" altLang="en-US" sz="3200">
              <a:solidFill>
                <a:schemeClr val="bg1"/>
              </a:solidFill>
              <a:latin typeface="PermianSansTypeface" panose="02000000000000000000" charset="0"/>
              <a:cs typeface="PermianSansTypeface" panose="02000000000000000000" charset="0"/>
            </a:endParaRPr>
          </a:p>
          <a:p>
            <a:r>
              <a:rPr lang="en-US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1 2 3 * +</a:t>
            </a:r>
            <a:br>
              <a:rPr lang="en-US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</a:br>
            <a:r>
              <a:rPr lang="en-US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stack = []</a:t>
            </a:r>
            <a:endParaRPr lang="en-US" altLang="en-US" sz="3200">
              <a:solidFill>
                <a:schemeClr val="bg1"/>
              </a:solidFill>
              <a:latin typeface="PermianSansTypeface" panose="02000000000000000000" charset="0"/>
              <a:cs typeface="PermianSansTypeface" panose="02000000000000000000" charset="0"/>
            </a:endParaRPr>
          </a:p>
          <a:p>
            <a:r>
              <a:rPr lang="en-US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append - </a:t>
            </a:r>
            <a:r>
              <a:rPr lang="ru-RU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добавить элемент в конец</a:t>
            </a:r>
            <a:endParaRPr lang="ru-RU" altLang="en-US" sz="3200">
              <a:solidFill>
                <a:schemeClr val="bg1"/>
              </a:solidFill>
              <a:latin typeface="PermianSansTypeface" panose="02000000000000000000" charset="0"/>
              <a:cs typeface="PermianSansTypeface" panose="02000000000000000000" charset="0"/>
            </a:endParaRPr>
          </a:p>
          <a:p>
            <a:r>
              <a:rPr lang="en-US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pop </a:t>
            </a:r>
            <a:r>
              <a:rPr lang="ru-RU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- достать последний элемент и удалить из стека</a:t>
            </a:r>
            <a:endParaRPr lang="ru-RU" altLang="en-US" sz="3200">
              <a:solidFill>
                <a:schemeClr val="bg1"/>
              </a:solidFill>
              <a:latin typeface="PermianSansTypeface" panose="02000000000000000000" charset="0"/>
              <a:cs typeface="PermianSansTypeface" panose="0200000000000000000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Алгоритм решения задачи</a:t>
            </a:r>
            <a:endParaRPr lang="ru-RU" altLang="en-US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Строка (выражение) разбивается на элементы (токены).</a:t>
            </a:r>
            <a:endParaRPr lang="ru-RU" altLang="en-US">
              <a:solidFill>
                <a:schemeClr val="bg1"/>
              </a:solidFill>
              <a:latin typeface="PermianSlabSerifTypeface" panose="02000000000000000000" charset="0"/>
              <a:cs typeface="PermianSlabSerifTypeface" panose="02000000000000000000" charset="0"/>
            </a:endParaRPr>
          </a:p>
          <a:p>
            <a:r>
              <a:rPr lang="ru-RU" altLang="en-US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Токен = число - в стек</a:t>
            </a:r>
            <a:endParaRPr lang="ru-RU" altLang="en-US">
              <a:solidFill>
                <a:schemeClr val="bg1"/>
              </a:solidFill>
              <a:latin typeface="PermianSlabSerifTypeface" panose="02000000000000000000" charset="0"/>
              <a:cs typeface="PermianSlabSerifTypeface" panose="02000000000000000000" charset="0"/>
            </a:endParaRPr>
          </a:p>
          <a:p>
            <a:r>
              <a:rPr lang="ru-RU" altLang="en-US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Токен = оператор - выполняется действие оператора над последними двумя элементами.</a:t>
            </a:r>
            <a:endParaRPr lang="ru-RU" altLang="en-US">
              <a:solidFill>
                <a:schemeClr val="bg1"/>
              </a:solidFill>
              <a:latin typeface="PermianSlabSerifTypeface" panose="02000000000000000000" charset="0"/>
              <a:cs typeface="PermianSlabSerifTypeface" panose="02000000000000000000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1 2 3 * + = [] -&gt; [1] -&gt; [1 2] -&gt; [1 2 3](*) -&gt; [1 6](+) -&gt; [7]</a:t>
            </a:r>
            <a:endParaRPr lang="en-US" altLang="en-US">
              <a:solidFill>
                <a:schemeClr val="bg1"/>
              </a:solidFill>
              <a:latin typeface="PermianSlabSerifTypeface" panose="02000000000000000000" charset="0"/>
              <a:cs typeface="PermianSlabSerifTypeface" panose="0200000000000000000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Прямоугольник 5"/>
          <p:cNvSpPr/>
          <p:nvPr/>
        </p:nvSpPr>
        <p:spPr>
          <a:xfrm>
            <a:off x="752475" y="945515"/>
            <a:ext cx="2493645" cy="52952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3200">
                <a:solidFill>
                  <a:schemeClr val="tx1"/>
                </a:solidFill>
              </a:rPr>
              <a:t>rpn_evaluate</a:t>
            </a:r>
            <a:endParaRPr lang="en-US" altLang="ru-RU" sz="320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105275" y="669925"/>
            <a:ext cx="6737985" cy="1771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3200">
                <a:solidFill>
                  <a:schemeClr val="tx1"/>
                </a:solidFill>
              </a:rPr>
              <a:t>__main__</a:t>
            </a:r>
            <a:endParaRPr lang="en-US" altLang="ru-RU" sz="3200"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8923020" y="3927475"/>
            <a:ext cx="2005330" cy="24828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3200">
                <a:solidFill>
                  <a:schemeClr val="tx1"/>
                </a:solidFill>
              </a:rPr>
              <a:t>exit</a:t>
            </a:r>
            <a:endParaRPr lang="en-US" altLang="ru-RU" sz="3200"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471285" y="3927475"/>
            <a:ext cx="2005330" cy="24828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3200">
                <a:solidFill>
                  <a:schemeClr val="tx1"/>
                </a:solidFill>
              </a:rPr>
              <a:t>clear</a:t>
            </a:r>
            <a:endParaRPr lang="en-US" altLang="ru-RU" sz="3200"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892550" y="3927475"/>
            <a:ext cx="2005330" cy="24828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3200">
                <a:solidFill>
                  <a:schemeClr val="tx1"/>
                </a:solidFill>
              </a:rPr>
              <a:t>examples</a:t>
            </a:r>
            <a:endParaRPr lang="en-US" altLang="ru-RU" sz="3200">
              <a:solidFill>
                <a:schemeClr val="tx1"/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flipH="1">
            <a:off x="5060315" y="2441575"/>
            <a:ext cx="10795" cy="146431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>
            <a:off x="7571105" y="2452370"/>
            <a:ext cx="10795" cy="146431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9930765" y="2452370"/>
            <a:ext cx="10795" cy="146431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H="1">
            <a:off x="3246120" y="1942465"/>
            <a:ext cx="848360" cy="3175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H="1" flipV="1">
            <a:off x="3256915" y="4244340"/>
            <a:ext cx="636270" cy="7556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 b="1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Демонстрация работы</a:t>
            </a:r>
            <a:endParaRPr lang="ru-RU" altLang="en-US" b="1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30" y="4471035"/>
            <a:ext cx="11812270" cy="200279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Текстовое поле 8"/>
          <p:cNvSpPr txBox="1"/>
          <p:nvPr/>
        </p:nvSpPr>
        <p:spPr>
          <a:xfrm>
            <a:off x="911860" y="1656080"/>
            <a:ext cx="9730105" cy="2369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ru-RU" sz="28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Защита от синтаксического мусора - </a:t>
            </a:r>
            <a:r>
              <a:rPr lang="en-US" altLang="ru-RU" sz="28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1 2 three * +</a:t>
            </a:r>
            <a:endParaRPr lang="en-US" altLang="ru-RU" sz="2800">
              <a:solidFill>
                <a:schemeClr val="bg1"/>
              </a:solidFill>
              <a:latin typeface="PermianSlabSerifTypeface" panose="02000000000000000000" charset="0"/>
              <a:cs typeface="PermianSlabSerifTypeface" panose="02000000000000000000" charset="0"/>
            </a:endParaRPr>
          </a:p>
          <a:p>
            <a:r>
              <a:rPr lang="ru-RU" altLang="ru-RU" sz="28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Проверка логики - 1 2 -3 * +</a:t>
            </a:r>
            <a:endParaRPr lang="ru-RU" altLang="ru-RU" sz="2800">
              <a:solidFill>
                <a:schemeClr val="bg1"/>
              </a:solidFill>
              <a:latin typeface="PermianSlabSerifTypeface" panose="02000000000000000000" charset="0"/>
              <a:cs typeface="PermianSlabSerifTypeface" panose="02000000000000000000" charset="0"/>
            </a:endParaRPr>
          </a:p>
          <a:p>
            <a:r>
              <a:rPr lang="ru-RU" altLang="ru-RU" sz="28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Контроль структуры - 1 2 3 * * *</a:t>
            </a:r>
            <a:endParaRPr lang="ru-RU" altLang="ru-RU" sz="2800">
              <a:solidFill>
                <a:schemeClr val="bg1"/>
              </a:solidFill>
              <a:latin typeface="PermianSlabSerifTypeface" panose="02000000000000000000" charset="0"/>
              <a:cs typeface="PermianSlabSerifTypeface" panose="02000000000000000000" charset="0"/>
            </a:endParaRPr>
          </a:p>
          <a:p>
            <a:r>
              <a:rPr lang="ru-RU" altLang="ru-RU" sz="28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Избыточность вычислений - 1 2 3 4 +</a:t>
            </a:r>
            <a:endParaRPr lang="ru-RU" altLang="ru-RU" sz="2800">
              <a:solidFill>
                <a:schemeClr val="bg1"/>
              </a:solidFill>
              <a:latin typeface="PermianSlabSerifTypeface" panose="02000000000000000000" charset="0"/>
              <a:cs typeface="PermianSlabSerifTypeface" panose="0200000000000000000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Интерфейс</a:t>
            </a:r>
            <a:endParaRPr lang="ru-RU" altLang="en-US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«    1 2 +       » = «1 2 +»           </a:t>
            </a:r>
            <a:r>
              <a:rPr lang="en-US" altLang="ru-RU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                    </a:t>
            </a:r>
            <a:r>
              <a:rPr lang="en-US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.strip()</a:t>
            </a:r>
            <a:endParaRPr lang="en-US" altLang="en-US" sz="3200">
              <a:solidFill>
                <a:schemeClr val="bg1"/>
              </a:solidFill>
              <a:latin typeface="PermianSansTypeface" panose="02000000000000000000" charset="0"/>
              <a:cs typeface="PermianSansTypeface" panose="02000000000000000000" charset="0"/>
            </a:endParaRPr>
          </a:p>
          <a:p>
            <a:r>
              <a:rPr lang="ru-RU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«</a:t>
            </a:r>
            <a:r>
              <a:rPr lang="en-US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HELP</a:t>
            </a:r>
            <a:r>
              <a:rPr lang="ru-RU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» </a:t>
            </a:r>
            <a:r>
              <a:rPr lang="en-US" altLang="ru-RU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/</a:t>
            </a:r>
            <a:r>
              <a:rPr lang="ru-RU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«</a:t>
            </a:r>
            <a:r>
              <a:rPr lang="en-US" altLang="ru-RU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EXit</a:t>
            </a:r>
            <a:r>
              <a:rPr lang="ru-RU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»</a:t>
            </a:r>
            <a:r>
              <a:rPr lang="en-US" altLang="ru-RU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= </a:t>
            </a:r>
            <a:r>
              <a:rPr lang="ru-RU" altLang="ru-RU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«</a:t>
            </a:r>
            <a:r>
              <a:rPr lang="en-US" altLang="ru-RU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help</a:t>
            </a:r>
            <a:r>
              <a:rPr lang="ru-RU" altLang="ru-RU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»</a:t>
            </a:r>
            <a:r>
              <a:rPr lang="en-US" altLang="ru-RU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/</a:t>
            </a:r>
            <a:r>
              <a:rPr lang="ru-RU" altLang="ru-RU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«</a:t>
            </a:r>
            <a:r>
              <a:rPr lang="en-US" altLang="ru-RU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exit</a:t>
            </a:r>
            <a:r>
              <a:rPr lang="ru-RU" altLang="ru-RU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»</a:t>
            </a:r>
            <a:r>
              <a:rPr lang="en-US" altLang="ru-RU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      .lower()</a:t>
            </a:r>
            <a:endParaRPr lang="en-US" altLang="ru-RU" sz="3200">
              <a:solidFill>
                <a:schemeClr val="bg1"/>
              </a:solidFill>
              <a:latin typeface="PermianSansTypeface" panose="02000000000000000000" charset="0"/>
              <a:cs typeface="PermianSansTypeface" panose="02000000000000000000" charset="0"/>
            </a:endParaRPr>
          </a:p>
          <a:p>
            <a:r>
              <a:rPr lang="ru-RU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Кроссплатформенная чистка консоли без использования </a:t>
            </a:r>
            <a:r>
              <a:rPr lang="en-US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os/subprocess</a:t>
            </a:r>
            <a:endParaRPr lang="ru-RU" altLang="en-US" sz="3200">
              <a:solidFill>
                <a:schemeClr val="bg1"/>
              </a:solidFill>
              <a:latin typeface="PermianSansTypeface" panose="02000000000000000000" charset="0"/>
              <a:cs typeface="PermianSansTypeface" panose="02000000000000000000" charset="0"/>
            </a:endParaRPr>
          </a:p>
          <a:p>
            <a:r>
              <a:rPr lang="ru-RU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Выйти? </a:t>
            </a:r>
            <a:r>
              <a:rPr lang="en-US" altLang="ru-RU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Y/N</a:t>
            </a:r>
            <a:r>
              <a:rPr lang="ru-RU" altLang="en-US" sz="3200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после каждого вычисления</a:t>
            </a:r>
            <a:endParaRPr lang="ru-RU" altLang="en-US" sz="3200">
              <a:solidFill>
                <a:schemeClr val="bg1"/>
              </a:solidFill>
              <a:latin typeface="PermianSansTypeface" panose="02000000000000000000" charset="0"/>
              <a:cs typeface="PermianSansTypeface" panose="02000000000000000000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Тестирование и результаты</a:t>
            </a:r>
            <a:endParaRPr lang="ru-RU" altLang="en-US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50" y="3174365"/>
            <a:ext cx="11648440" cy="1042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Постановка задачи</a:t>
            </a:r>
            <a:endParaRPr lang="ru-RU" altLang="en-US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Задача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19</a:t>
            </a:r>
            <a:endParaRPr lang="en-US" altLang="ru-RU">
              <a:solidFill>
                <a:schemeClr val="bg1"/>
              </a:solidFill>
              <a:latin typeface="PermianSansTypeface" panose="02000000000000000000" charset="0"/>
              <a:cs typeface="PermianSansTypeface" panose="02000000000000000000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В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файле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даны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n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целых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чисел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,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здесь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же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указан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путь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их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размещения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в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бинарном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дереве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виде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двоичного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кода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(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коды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не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повторяются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).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Построить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двоичное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дерево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целых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чисел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,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в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котором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путь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по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дереву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определяется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указанным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двоичным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кодом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в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этом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листе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(1 –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переход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к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правому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потомку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, 0 -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переход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к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левому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потомку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).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В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корень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автоматически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заносится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значение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0.</a:t>
            </a:r>
            <a:endParaRPr lang="en-US" altLang="ru-RU">
              <a:solidFill>
                <a:schemeClr val="bg1"/>
              </a:solidFill>
              <a:latin typeface="PermianSansTypeface" panose="02000000000000000000" charset="0"/>
              <a:cs typeface="PermianSansTypeface" panose="02000000000000000000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Учитывать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ситуацию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,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когда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дерево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не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может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быть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построено</a:t>
            </a:r>
            <a:r>
              <a:rPr lang="en-US" altLang="ru-RU">
                <a:solidFill>
                  <a:schemeClr val="bg1"/>
                </a:solidFill>
                <a:latin typeface="PermianSansTypeface" panose="02000000000000000000" charset="0"/>
                <a:cs typeface="PermianSansTypeface" panose="02000000000000000000" charset="0"/>
              </a:rPr>
              <a:t>.</a:t>
            </a:r>
            <a:endParaRPr lang="en-US" altLang="ru-RU">
              <a:solidFill>
                <a:schemeClr val="bg1"/>
              </a:solidFill>
              <a:latin typeface="PermianSansTypeface" panose="02000000000000000000" charset="0"/>
              <a:cs typeface="PermianSansTypeface" panose="02000000000000000000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Алгоритм решения задачи</a:t>
            </a:r>
            <a:endParaRPr lang="ru-RU" altLang="en-US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6727825" cy="4351655"/>
          </a:xfrm>
        </p:spPr>
        <p:txBody>
          <a:bodyPr/>
          <a:p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class TreeNode:</a:t>
            </a:r>
            <a:endParaRPr lang="en-US" altLang="ru-RU" sz="2400">
              <a:solidFill>
                <a:schemeClr val="bg1"/>
              </a:solidFill>
              <a:latin typeface="PermianSlabSerifTypeface" panose="02000000000000000000" charset="0"/>
              <a:cs typeface="PermianSlabSerifTypeface" panose="02000000000000000000" charset="0"/>
            </a:endParaRPr>
          </a:p>
          <a:p>
            <a:r>
              <a:rPr lang="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 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</a:t>
            </a:r>
            <a:r>
              <a:rPr lang="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 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def __init__(self, value=None):</a:t>
            </a:r>
            <a:endParaRPr lang="en-US" altLang="ru-RU" sz="2400">
              <a:solidFill>
                <a:schemeClr val="bg1"/>
              </a:solidFill>
              <a:latin typeface="PermianSlabSerifTypeface" panose="02000000000000000000" charset="0"/>
              <a:cs typeface="PermianSlabSerifTypeface" panose="02000000000000000000" charset="0"/>
            </a:endParaRPr>
          </a:p>
          <a:p>
            <a:r>
              <a:rPr lang="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 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</a:t>
            </a:r>
            <a:r>
              <a:rPr lang="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 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</a:t>
            </a:r>
            <a:r>
              <a:rPr lang="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 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</a:t>
            </a:r>
            <a:r>
              <a:rPr lang="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 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self.value = value # </a:t>
            </a:r>
            <a:r>
              <a:rPr lang="en-US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Значение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</a:t>
            </a:r>
            <a:r>
              <a:rPr lang="en-US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в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</a:t>
            </a:r>
            <a:r>
              <a:rPr lang="en-US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узле</a:t>
            </a:r>
            <a:endParaRPr lang="en-US" altLang="en-US" sz="2400">
              <a:solidFill>
                <a:schemeClr val="bg1"/>
              </a:solidFill>
              <a:latin typeface="PermianSlabSerifTypeface" panose="02000000000000000000" charset="0"/>
              <a:cs typeface="PermianSlabSerifTypeface" panose="02000000000000000000" charset="0"/>
            </a:endParaRPr>
          </a:p>
          <a:p>
            <a:r>
              <a:rPr lang="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 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</a:t>
            </a:r>
            <a:r>
              <a:rPr lang="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 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</a:t>
            </a:r>
            <a:r>
              <a:rPr lang="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 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</a:t>
            </a:r>
            <a:r>
              <a:rPr lang="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 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self.left = None # </a:t>
            </a:r>
            <a:r>
              <a:rPr lang="en-US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Левый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</a:t>
            </a:r>
            <a:r>
              <a:rPr lang="en-US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потомок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(0)</a:t>
            </a:r>
            <a:endParaRPr lang="en-US" altLang="ru-RU" sz="2400">
              <a:solidFill>
                <a:schemeClr val="bg1"/>
              </a:solidFill>
              <a:latin typeface="PermianSlabSerifTypeface" panose="02000000000000000000" charset="0"/>
              <a:cs typeface="PermianSlabSerifTypeface" panose="02000000000000000000" charset="0"/>
            </a:endParaRPr>
          </a:p>
          <a:p>
            <a:r>
              <a:rPr lang="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 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</a:t>
            </a:r>
            <a:r>
              <a:rPr lang="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 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</a:t>
            </a:r>
            <a:r>
              <a:rPr lang="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 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</a:t>
            </a:r>
            <a:r>
              <a:rPr lang="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 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self.right = None # </a:t>
            </a:r>
            <a:r>
              <a:rPr lang="en-US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Правый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</a:t>
            </a:r>
            <a:r>
              <a:rPr lang="en-US" altLang="en-US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потомок</a:t>
            </a:r>
            <a:r>
              <a:rPr lang="en-US" altLang="ru-RU" sz="2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 (1)</a:t>
            </a:r>
            <a:endParaRPr lang="en-US" altLang="ru-RU" sz="2400">
              <a:solidFill>
                <a:schemeClr val="bg1"/>
              </a:solidFill>
              <a:latin typeface="PermianSlabSerifTypeface" panose="02000000000000000000" charset="0"/>
              <a:cs typeface="PermianSlabSerifTypeface" panose="02000000000000000000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8434705" y="258445"/>
            <a:ext cx="287464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>
                <a:solidFill>
                  <a:schemeClr val="bg1"/>
                </a:solidFill>
              </a:rPr>
              <a:t>value		path</a:t>
            </a:r>
            <a:endParaRPr lang="ru-RU" altLang="en-US" sz="3200">
              <a:solidFill>
                <a:schemeClr val="bg1"/>
              </a:solidFill>
            </a:endParaRPr>
          </a:p>
          <a:p>
            <a:r>
              <a:rPr lang="ru-RU" altLang="en-US" sz="3200">
                <a:solidFill>
                  <a:schemeClr val="bg1"/>
                </a:solidFill>
              </a:rPr>
              <a:t>1</a:t>
            </a:r>
            <a:r>
              <a:rPr lang="en-US" altLang="ru-RU" sz="3200">
                <a:solidFill>
                  <a:schemeClr val="bg1"/>
                </a:solidFill>
              </a:rPr>
              <a:t>		</a:t>
            </a:r>
            <a:r>
              <a:rPr lang="ru-RU" altLang="en-US" sz="3200">
                <a:solidFill>
                  <a:schemeClr val="bg1"/>
                </a:solidFill>
              </a:rPr>
              <a:t>0</a:t>
            </a:r>
            <a:endParaRPr lang="ru-RU" altLang="en-US" sz="3200">
              <a:solidFill>
                <a:schemeClr val="bg1"/>
              </a:solidFill>
            </a:endParaRPr>
          </a:p>
          <a:p>
            <a:r>
              <a:rPr lang="ru-RU" altLang="en-US" sz="3200">
                <a:solidFill>
                  <a:schemeClr val="bg1"/>
                </a:solidFill>
              </a:rPr>
              <a:t>2</a:t>
            </a:r>
            <a:r>
              <a:rPr lang="en-US" altLang="ru-RU" sz="3200">
                <a:solidFill>
                  <a:schemeClr val="bg1"/>
                </a:solidFill>
              </a:rPr>
              <a:t>		</a:t>
            </a:r>
            <a:r>
              <a:rPr lang="ru-RU" altLang="en-US" sz="3200">
                <a:solidFill>
                  <a:schemeClr val="bg1"/>
                </a:solidFill>
              </a:rPr>
              <a:t>1</a:t>
            </a:r>
            <a:endParaRPr lang="ru-RU" altLang="en-US" sz="3200">
              <a:solidFill>
                <a:schemeClr val="bg1"/>
              </a:solidFill>
            </a:endParaRPr>
          </a:p>
          <a:p>
            <a:r>
              <a:rPr lang="ru-RU" altLang="en-US" sz="3200">
                <a:solidFill>
                  <a:schemeClr val="bg1"/>
                </a:solidFill>
              </a:rPr>
              <a:t>3</a:t>
            </a:r>
            <a:r>
              <a:rPr lang="en-US" altLang="ru-RU" sz="3200">
                <a:solidFill>
                  <a:schemeClr val="bg1"/>
                </a:solidFill>
              </a:rPr>
              <a:t>		</a:t>
            </a:r>
            <a:r>
              <a:rPr lang="ru-RU" altLang="en-US" sz="3200">
                <a:solidFill>
                  <a:schemeClr val="bg1"/>
                </a:solidFill>
              </a:rPr>
              <a:t>01</a:t>
            </a:r>
            <a:endParaRPr lang="ru-RU" altLang="en-US" sz="3200">
              <a:solidFill>
                <a:schemeClr val="bg1"/>
              </a:solidFill>
            </a:endParaRPr>
          </a:p>
          <a:p>
            <a:r>
              <a:rPr lang="ru-RU" altLang="en-US" sz="3200">
                <a:solidFill>
                  <a:schemeClr val="bg1"/>
                </a:solidFill>
              </a:rPr>
              <a:t>4</a:t>
            </a:r>
            <a:r>
              <a:rPr lang="en-US" altLang="ru-RU" sz="3200">
                <a:solidFill>
                  <a:schemeClr val="bg1"/>
                </a:solidFill>
              </a:rPr>
              <a:t>		</a:t>
            </a:r>
            <a:r>
              <a:rPr lang="ru-RU" altLang="en-US" sz="3200">
                <a:solidFill>
                  <a:schemeClr val="bg1"/>
                </a:solidFill>
              </a:rPr>
              <a:t>010</a:t>
            </a:r>
            <a:endParaRPr lang="ru-RU" altLang="en-US" sz="3200">
              <a:solidFill>
                <a:schemeClr val="bg1"/>
              </a:solidFill>
            </a:endParaRPr>
          </a:p>
          <a:p>
            <a:r>
              <a:rPr lang="ru-RU" altLang="en-US" sz="3200">
                <a:solidFill>
                  <a:schemeClr val="bg1"/>
                </a:solidFill>
              </a:rPr>
              <a:t>5</a:t>
            </a:r>
            <a:r>
              <a:rPr lang="en-US" altLang="ru-RU" sz="3200">
                <a:solidFill>
                  <a:schemeClr val="bg1"/>
                </a:solidFill>
              </a:rPr>
              <a:t>		</a:t>
            </a:r>
            <a:r>
              <a:rPr lang="ru-RU" altLang="en-US" sz="3200">
                <a:solidFill>
                  <a:schemeClr val="bg1"/>
                </a:solidFill>
              </a:rPr>
              <a:t>011</a:t>
            </a:r>
            <a:endParaRPr lang="ru-RU" altLang="en-US" sz="3200">
              <a:solidFill>
                <a:schemeClr val="bg1"/>
              </a:solidFill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9601835" y="3853180"/>
            <a:ext cx="711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>
                <a:solidFill>
                  <a:schemeClr val="bg1"/>
                </a:solidFill>
              </a:rPr>
              <a:t>0</a:t>
            </a:r>
            <a:endParaRPr lang="en-US" altLang="ru-RU" sz="2800">
              <a:solidFill>
                <a:schemeClr val="bg1"/>
              </a:solidFill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9037955" y="4366260"/>
            <a:ext cx="711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>
                <a:solidFill>
                  <a:schemeClr val="bg1"/>
                </a:solidFill>
              </a:rPr>
              <a:t>1</a:t>
            </a:r>
            <a:endParaRPr lang="en-US" altLang="ru-RU" sz="2800">
              <a:solidFill>
                <a:schemeClr val="bg1"/>
              </a:solidFill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0186670" y="4366260"/>
            <a:ext cx="711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>
                <a:solidFill>
                  <a:schemeClr val="bg1"/>
                </a:solidFill>
              </a:rPr>
              <a:t>2</a:t>
            </a:r>
            <a:endParaRPr lang="en-US" altLang="ru-RU" sz="2800">
              <a:solidFill>
                <a:schemeClr val="bg1"/>
              </a:solidFill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9601835" y="4923790"/>
            <a:ext cx="711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>
                <a:solidFill>
                  <a:schemeClr val="bg1"/>
                </a:solidFill>
              </a:rPr>
              <a:t>3</a:t>
            </a:r>
            <a:endParaRPr lang="en-US" altLang="ru-RU" sz="2800">
              <a:solidFill>
                <a:schemeClr val="bg1"/>
              </a:solidFill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955405" y="5652770"/>
            <a:ext cx="711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>
                <a:solidFill>
                  <a:schemeClr val="bg1"/>
                </a:solidFill>
              </a:rPr>
              <a:t>4</a:t>
            </a:r>
            <a:endParaRPr lang="en-US" altLang="ru-RU" sz="2800">
              <a:solidFill>
                <a:schemeClr val="bg1"/>
              </a:solidFill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10313670" y="5652770"/>
            <a:ext cx="711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>
                <a:solidFill>
                  <a:schemeClr val="bg1"/>
                </a:solidFill>
              </a:rPr>
              <a:t>5</a:t>
            </a:r>
            <a:endParaRPr lang="en-US" altLang="ru-RU" sz="2800">
              <a:solidFill>
                <a:schemeClr val="bg1"/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flipH="1">
            <a:off x="9337040" y="4192270"/>
            <a:ext cx="316865" cy="25527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>
            <a:off x="9284970" y="5397500"/>
            <a:ext cx="316865" cy="25527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9983470" y="4192270"/>
            <a:ext cx="330200" cy="25527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9337040" y="4794885"/>
            <a:ext cx="330200" cy="25527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9983470" y="5397500"/>
            <a:ext cx="330200" cy="25527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Прямоугольник 5"/>
          <p:cNvSpPr/>
          <p:nvPr/>
        </p:nvSpPr>
        <p:spPr>
          <a:xfrm>
            <a:off x="752475" y="945515"/>
            <a:ext cx="2493645" cy="52952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3200">
                <a:solidFill>
                  <a:schemeClr val="tx1"/>
                </a:solidFill>
              </a:rPr>
              <a:t>build_tree</a:t>
            </a:r>
            <a:endParaRPr lang="en-US" altLang="ru-RU" sz="320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105275" y="669925"/>
            <a:ext cx="6737985" cy="1771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3200">
                <a:solidFill>
                  <a:schemeClr val="tx1"/>
                </a:solidFill>
              </a:rPr>
              <a:t>main</a:t>
            </a:r>
            <a:endParaRPr lang="en-US" altLang="ru-RU" sz="3200"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397625" y="3927475"/>
            <a:ext cx="2005330" cy="24828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3200">
                <a:solidFill>
                  <a:schemeClr val="tx1"/>
                </a:solidFill>
              </a:rPr>
              <a:t>parse_line</a:t>
            </a:r>
            <a:endParaRPr lang="en-US" altLang="ru-RU" sz="3200"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9050020" y="3949065"/>
            <a:ext cx="2005330" cy="24828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2400">
                <a:solidFill>
                  <a:schemeClr val="tx1"/>
                </a:solidFill>
              </a:rPr>
              <a:t>read_from_</a:t>
            </a:r>
            <a:endParaRPr lang="en-US" altLang="ru-RU" sz="2400">
              <a:solidFill>
                <a:schemeClr val="tx1"/>
              </a:solidFill>
            </a:endParaRPr>
          </a:p>
          <a:p>
            <a:pPr algn="ctr"/>
            <a:r>
              <a:rPr lang="en-US" altLang="ru-RU" sz="2400">
                <a:solidFill>
                  <a:schemeClr val="tx1"/>
                </a:solidFill>
              </a:rPr>
              <a:t>file</a:t>
            </a:r>
            <a:endParaRPr lang="en-US" altLang="ru-RU" sz="2400">
              <a:solidFill>
                <a:schemeClr val="tx1"/>
              </a:solidFill>
            </a:endParaRPr>
          </a:p>
          <a:p>
            <a:pPr algn="ctr"/>
            <a:r>
              <a:rPr lang="en-US" altLang="ru-RU" sz="2400">
                <a:solidFill>
                  <a:schemeClr val="tx1"/>
                </a:solidFill>
              </a:rPr>
              <a:t>read_from_</a:t>
            </a:r>
            <a:endParaRPr lang="en-US" altLang="ru-RU" sz="2400">
              <a:solidFill>
                <a:schemeClr val="tx1"/>
              </a:solidFill>
            </a:endParaRPr>
          </a:p>
          <a:p>
            <a:pPr algn="ctr"/>
            <a:r>
              <a:rPr lang="en-US" altLang="ru-RU" sz="2400">
                <a:solidFill>
                  <a:schemeClr val="tx1"/>
                </a:solidFill>
              </a:rPr>
              <a:t>console</a:t>
            </a:r>
            <a:endParaRPr lang="en-US" altLang="ru-RU" sz="2400"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892550" y="3927475"/>
            <a:ext cx="2005330" cy="24828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2400">
                <a:solidFill>
                  <a:schemeClr val="tx1"/>
                </a:solidFill>
              </a:rPr>
              <a:t>check_for_</a:t>
            </a:r>
            <a:br>
              <a:rPr lang="en-US" altLang="ru-RU" sz="2400">
                <a:solidFill>
                  <a:schemeClr val="tx1"/>
                </a:solidFill>
              </a:rPr>
            </a:br>
            <a:r>
              <a:rPr lang="en-US" altLang="ru-RU" sz="2400">
                <a:solidFill>
                  <a:schemeClr val="tx1"/>
                </a:solidFill>
              </a:rPr>
              <a:t>empty_nodes</a:t>
            </a:r>
            <a:endParaRPr lang="en-US" altLang="ru-RU" sz="2400">
              <a:solidFill>
                <a:schemeClr val="tx1"/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flipH="1" flipV="1">
            <a:off x="3246755" y="2850515"/>
            <a:ext cx="3522345" cy="104521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>
            <a:off x="9810115" y="2484755"/>
            <a:ext cx="10795" cy="146431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8392160" y="4744085"/>
            <a:ext cx="626110" cy="3238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3170555" y="4330700"/>
            <a:ext cx="721995" cy="11557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Демонстрация работы и тестирование</a:t>
            </a:r>
            <a:endParaRPr lang="ru-RU" altLang="en-US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</p:txBody>
      </p:sp>
      <p:pic>
        <p:nvPicPr>
          <p:cNvPr id="5" name="Изображение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730" y="1584960"/>
            <a:ext cx="5107940" cy="184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730" y="4184650"/>
            <a:ext cx="10000615" cy="22447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Текстовое поле 6"/>
          <p:cNvSpPr txBox="1"/>
          <p:nvPr/>
        </p:nvSpPr>
        <p:spPr>
          <a:xfrm>
            <a:off x="455295" y="1614170"/>
            <a:ext cx="203835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ru-RU" sz="2800">
                <a:solidFill>
                  <a:schemeClr val="bg1"/>
                </a:solidFill>
              </a:rPr>
              <a:t>1 0</a:t>
            </a:r>
            <a:endParaRPr lang="en-US" altLang="ru-RU" sz="2800">
              <a:solidFill>
                <a:schemeClr val="bg1"/>
              </a:solidFill>
            </a:endParaRPr>
          </a:p>
          <a:p>
            <a:pPr algn="ctr"/>
            <a:r>
              <a:rPr lang="en-US" altLang="ru-RU" sz="2800">
                <a:solidFill>
                  <a:schemeClr val="bg1"/>
                </a:solidFill>
              </a:rPr>
              <a:t>2 1</a:t>
            </a:r>
            <a:endParaRPr lang="en-US" altLang="ru-RU" sz="2800">
              <a:solidFill>
                <a:schemeClr val="bg1"/>
              </a:solidFill>
            </a:endParaRPr>
          </a:p>
          <a:p>
            <a:pPr algn="ctr"/>
            <a:r>
              <a:rPr lang="en-US" altLang="ru-RU" sz="2800">
                <a:solidFill>
                  <a:schemeClr val="bg1"/>
                </a:solidFill>
              </a:rPr>
              <a:t>3 00</a:t>
            </a:r>
            <a:endParaRPr lang="en-US" altLang="ru-RU" sz="2800">
              <a:solidFill>
                <a:schemeClr val="bg1"/>
              </a:solidFill>
            </a:endParaRPr>
          </a:p>
          <a:p>
            <a:pPr algn="ctr"/>
            <a:r>
              <a:rPr lang="en-US" altLang="ru-RU" sz="2800">
                <a:solidFill>
                  <a:schemeClr val="bg1"/>
                </a:solidFill>
              </a:rPr>
              <a:t>4 01</a:t>
            </a:r>
            <a:endParaRPr lang="en-US" altLang="ru-RU" sz="2800">
              <a:solidFill>
                <a:schemeClr val="bg1"/>
              </a:solidFill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540385" y="4404995"/>
            <a:ext cx="174053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ru-RU" sz="2800">
                <a:solidFill>
                  <a:schemeClr val="bg1"/>
                </a:solidFill>
              </a:rPr>
              <a:t>5 0</a:t>
            </a:r>
            <a:endParaRPr lang="en-US" altLang="ru-RU" sz="2800">
              <a:solidFill>
                <a:schemeClr val="bg1"/>
              </a:solidFill>
            </a:endParaRPr>
          </a:p>
          <a:p>
            <a:pPr algn="ctr"/>
            <a:r>
              <a:rPr lang="en-US" altLang="en-US" sz="2800">
                <a:solidFill>
                  <a:schemeClr val="bg1"/>
                </a:solidFill>
              </a:rPr>
              <a:t>два</a:t>
            </a:r>
            <a:r>
              <a:rPr lang="en-US" altLang="ru-RU" sz="2800">
                <a:solidFill>
                  <a:schemeClr val="bg1"/>
                </a:solidFill>
              </a:rPr>
              <a:t> 10</a:t>
            </a:r>
            <a:endParaRPr lang="en-US" altLang="ru-RU" sz="2800">
              <a:solidFill>
                <a:schemeClr val="bg1"/>
              </a:solidFill>
            </a:endParaRPr>
          </a:p>
          <a:p>
            <a:pPr algn="ctr"/>
            <a:r>
              <a:rPr lang="en-US" altLang="ru-RU" sz="2800">
                <a:solidFill>
                  <a:schemeClr val="bg1"/>
                </a:solidFill>
              </a:rPr>
              <a:t>67</a:t>
            </a:r>
            <a:endParaRPr lang="en-US" altLang="ru-RU" sz="2800">
              <a:solidFill>
                <a:schemeClr val="bg1"/>
              </a:solidFill>
            </a:endParaRPr>
          </a:p>
          <a:p>
            <a:pPr algn="ctr"/>
            <a:r>
              <a:rPr lang="en-US" altLang="ru-RU" sz="2800">
                <a:solidFill>
                  <a:schemeClr val="bg1"/>
                </a:solidFill>
              </a:rPr>
              <a:t>7 11</a:t>
            </a:r>
            <a:endParaRPr lang="en-US" altLang="ru-RU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Демонстрация работы и тестирование</a:t>
            </a:r>
            <a:endParaRPr lang="ru-RU" altLang="en-US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</p:txBody>
      </p:sp>
      <p:pic>
        <p:nvPicPr>
          <p:cNvPr id="7" name="Изображение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4420" y="1483995"/>
            <a:ext cx="9644380" cy="1710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Изображение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405" y="4197985"/>
            <a:ext cx="9637395" cy="174053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Текстовое поле 4"/>
          <p:cNvSpPr txBox="1"/>
          <p:nvPr/>
        </p:nvSpPr>
        <p:spPr>
          <a:xfrm>
            <a:off x="890270" y="1858010"/>
            <a:ext cx="18040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ru-RU" sz="2800">
                <a:solidFill>
                  <a:schemeClr val="bg1"/>
                </a:solidFill>
              </a:rPr>
              <a:t>5 01</a:t>
            </a:r>
            <a:endParaRPr lang="en-US" altLang="ru-RU" sz="2800">
              <a:solidFill>
                <a:schemeClr val="bg1"/>
              </a:solidFill>
            </a:endParaRPr>
          </a:p>
          <a:p>
            <a:pPr algn="ctr"/>
            <a:r>
              <a:rPr lang="en-US" altLang="ru-RU" sz="2800">
                <a:solidFill>
                  <a:schemeClr val="bg1"/>
                </a:solidFill>
              </a:rPr>
              <a:t>6 01</a:t>
            </a:r>
            <a:endParaRPr lang="en-US" altLang="ru-RU" sz="2800">
              <a:solidFill>
                <a:schemeClr val="bg1"/>
              </a:solidFill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943610" y="4542790"/>
            <a:ext cx="15716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ru-RU" sz="2800">
                <a:solidFill>
                  <a:schemeClr val="bg1"/>
                </a:solidFill>
              </a:rPr>
              <a:t>5 0</a:t>
            </a:r>
            <a:endParaRPr lang="en-US" altLang="ru-RU" sz="2800">
              <a:solidFill>
                <a:schemeClr val="bg1"/>
              </a:solidFill>
            </a:endParaRPr>
          </a:p>
          <a:p>
            <a:pPr algn="ctr"/>
            <a:r>
              <a:rPr lang="en-US" altLang="ru-RU" sz="2800">
                <a:solidFill>
                  <a:schemeClr val="bg1"/>
                </a:solidFill>
              </a:rPr>
              <a:t>6 010</a:t>
            </a:r>
            <a:endParaRPr lang="en-US" altLang="ru-RU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Демонстрация работы и тестирование</a:t>
            </a:r>
            <a:endParaRPr lang="ru-RU" altLang="en-US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</p:txBody>
      </p:sp>
      <p:pic>
        <p:nvPicPr>
          <p:cNvPr id="9" name="Изображение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7545" y="1186180"/>
            <a:ext cx="7712710" cy="50507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Текстовое поле 4"/>
          <p:cNvSpPr txBox="1"/>
          <p:nvPr/>
        </p:nvSpPr>
        <p:spPr>
          <a:xfrm>
            <a:off x="1060450" y="4114165"/>
            <a:ext cx="134810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800">
                <a:solidFill>
                  <a:schemeClr val="bg1"/>
                </a:solidFill>
              </a:rPr>
              <a:t>1 0</a:t>
            </a:r>
            <a:endParaRPr lang="ru-RU" altLang="en-US" sz="2800">
              <a:solidFill>
                <a:schemeClr val="bg1"/>
              </a:solidFill>
            </a:endParaRPr>
          </a:p>
          <a:p>
            <a:pPr algn="ctr"/>
            <a:r>
              <a:rPr lang="ru-RU" altLang="en-US" sz="2800">
                <a:solidFill>
                  <a:schemeClr val="bg1"/>
                </a:solidFill>
              </a:rPr>
              <a:t>2 1</a:t>
            </a:r>
            <a:endParaRPr lang="ru-RU" altLang="en-US" sz="2800">
              <a:solidFill>
                <a:schemeClr val="bg1"/>
              </a:solidFill>
            </a:endParaRPr>
          </a:p>
          <a:p>
            <a:pPr algn="ctr"/>
            <a:r>
              <a:rPr lang="ru-RU" altLang="en-US" sz="2800">
                <a:solidFill>
                  <a:schemeClr val="bg1"/>
                </a:solidFill>
              </a:rPr>
              <a:t>3 10</a:t>
            </a:r>
            <a:endParaRPr lang="ru-RU" altLang="en-US" sz="2800">
              <a:solidFill>
                <a:schemeClr val="bg1"/>
              </a:solidFill>
            </a:endParaRPr>
          </a:p>
          <a:p>
            <a:pPr algn="ctr"/>
            <a:r>
              <a:rPr lang="ru-RU" altLang="en-US" sz="2800">
                <a:solidFill>
                  <a:schemeClr val="bg1"/>
                </a:solidFill>
              </a:rPr>
              <a:t>0</a:t>
            </a:r>
            <a:endParaRPr lang="ru-RU" altLang="en-US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Демонстрация работы и тестирование</a:t>
            </a:r>
            <a:endParaRPr lang="ru-RU" altLang="en-US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</p:txBody>
      </p:sp>
      <p:pic>
        <p:nvPicPr>
          <p:cNvPr id="10" name="Изображение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304290"/>
            <a:ext cx="9138285" cy="262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Изображение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340" y="4255135"/>
            <a:ext cx="7277735" cy="227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25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olidFill>
                  <a:schemeClr val="bg1"/>
                </a:solidFill>
                <a:latin typeface="PermianSerifTypeface" panose="02000000000000000000" charset="0"/>
                <a:cs typeface="PermianSerifTypeface" panose="02000000000000000000" charset="0"/>
              </a:rPr>
              <a:t>Заключение</a:t>
            </a:r>
            <a:endParaRPr lang="ru-RU" altLang="en-US">
              <a:solidFill>
                <a:schemeClr val="bg1"/>
              </a:solidFill>
              <a:latin typeface="PermianSerifTypeface" panose="02000000000000000000" charset="0"/>
              <a:cs typeface="PermianSerifTypeface" panose="02000000000000000000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2737485"/>
            <a:ext cx="10515600" cy="3439795"/>
          </a:xfrm>
        </p:spPr>
        <p:txBody>
          <a:bodyPr/>
          <a:p>
            <a:pPr algn="ctr"/>
            <a:r>
              <a:rPr lang="ru-RU" altLang="en-US" sz="4400">
                <a:solidFill>
                  <a:schemeClr val="bg1"/>
                </a:solidFill>
                <a:latin typeface="PermianSlabSerifTypeface" panose="02000000000000000000" charset="0"/>
                <a:cs typeface="PermianSlabSerifTypeface" panose="02000000000000000000" charset="0"/>
              </a:rPr>
              <a:t>Спасибо за внимание!!</a:t>
            </a:r>
            <a:endParaRPr lang="ru-RU" altLang="en-US" sz="4400">
              <a:solidFill>
                <a:schemeClr val="bg1"/>
              </a:solidFill>
              <a:latin typeface="PermianSlabSerifTypeface" panose="02000000000000000000" charset="0"/>
              <a:cs typeface="PermianSlabSerifTypeface" panose="0200000000000000000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2405</Words>
  <Application>WPS Presentation</Application>
  <PresentationFormat>宽屏</PresentationFormat>
  <Paragraphs>131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Calibri Light</vt:lpstr>
      <vt:lpstr>Arial Unicode MS</vt:lpstr>
      <vt:lpstr>Calibri</vt:lpstr>
      <vt:lpstr>Microsoft YaHei</vt:lpstr>
      <vt:lpstr>Palatino Linotype</vt:lpstr>
      <vt:lpstr>PermianSansTypeface</vt:lpstr>
      <vt:lpstr>PermianSerifTypeface</vt:lpstr>
      <vt:lpstr>PermianSlabSerifTypeface</vt:lpstr>
      <vt:lpstr>Times New Roman</vt:lpstr>
      <vt:lpstr>Calibri</vt:lpstr>
      <vt:lpstr>Office Theme</vt:lpstr>
      <vt:lpstr>PowerPoint 演示文稿</vt:lpstr>
      <vt:lpstr>PowerPoint 演示文稿</vt:lpstr>
      <vt:lpstr>Постановка задачи</vt:lpstr>
      <vt:lpstr>Алгоритм решения задачи</vt:lpstr>
      <vt:lpstr>Алгоритм решения задачи</vt:lpstr>
      <vt:lpstr>Алгоритм решения задачи</vt:lpstr>
      <vt:lpstr>Демонстрация работы</vt:lpstr>
      <vt:lpstr>Тестирование и результаты</vt:lpstr>
      <vt:lpstr>Постановка задачи</vt:lpstr>
      <vt:lpstr>Алгоритм решения задачи</vt:lpstr>
      <vt:lpstr>PowerPoint 演示文稿</vt:lpstr>
      <vt:lpstr>Демонстрация работы</vt:lpstr>
      <vt:lpstr>Демонстрация работы</vt:lpstr>
      <vt:lpstr>Демонстрация работы</vt:lpstr>
      <vt:lpstr>Демонстрация работы и тестирование</vt:lpstr>
      <vt:lpstr>Тестирование и результаты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Mi</cp:lastModifiedBy>
  <cp:revision>5</cp:revision>
  <dcterms:created xsi:type="dcterms:W3CDTF">2025-07-23T00:59:00Z</dcterms:created>
  <dcterms:modified xsi:type="dcterms:W3CDTF">2026-06-15T00:40:47Z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1049-12.2.0.23197</vt:lpwstr>
  </property>
  <property fmtid="{D5CDD505-2E9C-101B-9397-08002B2CF9AE}" pid="3" name="ICV">
    <vt:lpwstr>E9570D2E314C4FE9B5D2497FAA2293AB_13</vt:lpwstr>
  </property>
</Properties>
</file>